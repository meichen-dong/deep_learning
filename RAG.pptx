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lacial Indifference" charset="1" panose="00000000000000000000"/>
      <p:regular r:id="rId16"/>
    </p:embeddedFont>
    <p:embeddedFont>
      <p:font typeface="Glacial Indifferen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440090" y="6119440"/>
            <a:ext cx="80051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9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Meichen Dong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5993" y="3070926"/>
            <a:ext cx="14533321" cy="400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1"/>
              </a:lnSpc>
            </a:pPr>
            <a:r>
              <a:rPr lang="en-US" b="true" sz="7615" spc="71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RAG SYSTEM FOR</a:t>
            </a:r>
          </a:p>
          <a:p>
            <a:pPr algn="ctr">
              <a:lnSpc>
                <a:spcPts val="10661"/>
              </a:lnSpc>
            </a:pPr>
            <a:r>
              <a:rPr lang="en-US" b="true" sz="7615" spc="71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Exchange P</a:t>
            </a:r>
            <a:r>
              <a:rPr lang="en-US" b="true" sz="7615" spc="71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ROGRAM Q&amp;A</a:t>
            </a:r>
          </a:p>
          <a:p>
            <a:pPr algn="ctr">
              <a:lnSpc>
                <a:spcPts val="1066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319780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344704" y="1943183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4704" y="1115260"/>
            <a:ext cx="4756100" cy="9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7"/>
              </a:lnSpc>
            </a:pPr>
            <a:r>
              <a:rPr lang="en-US" sz="5683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TABLE OF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3189" y="3861115"/>
            <a:ext cx="9547904" cy="488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Overview &amp; Motivation</a:t>
            </a:r>
          </a:p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System Architecture</a:t>
            </a:r>
          </a:p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Experiments &amp; Evaluation</a:t>
            </a:r>
          </a:p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</a:t>
            </a:r>
            <a:r>
              <a:rPr lang="en-US" sz="3941" spc="86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Results at a Glance</a:t>
            </a:r>
          </a:p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Prompt Template Experiments </a:t>
            </a:r>
          </a:p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Gradio Interface</a:t>
            </a:r>
          </a:p>
          <a:p>
            <a:pPr algn="l" marL="850963" indent="-425482" lvl="1">
              <a:lnSpc>
                <a:spcPts val="5518"/>
              </a:lnSpc>
              <a:buFont typeface="Arial"/>
              <a:buChar char="•"/>
            </a:pPr>
            <a:r>
              <a:rPr lang="en-US" sz="3941" spc="86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9755" y="3784915"/>
            <a:ext cx="1110062" cy="513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  <a:p>
            <a:pPr algn="ctr">
              <a:lnSpc>
                <a:spcPts val="5861"/>
              </a:lnSpc>
            </a:pPr>
            <a:r>
              <a:rPr lang="en-US" b="true" sz="3531" spc="77" strike="noStrik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4650243" y="-146178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248411"/>
            <a:ext cx="13204289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61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OVERV</a:t>
            </a:r>
            <a:r>
              <a:rPr lang="en-US" b="true" sz="6500" spc="611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IE</a:t>
            </a:r>
            <a:r>
              <a:rPr lang="en-US" b="true" sz="6500" spc="611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 &amp; MOTIVATION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904222" y="2731136"/>
            <a:ext cx="14944370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sz="3500" spc="7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There are 8 official exchange program PDFs, Students must read everything manually.</a:t>
            </a:r>
          </a:p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sz="3500" spc="7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Information scattered across files, Hard to compare universities</a:t>
            </a:r>
          </a:p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sz="3500" spc="7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Time-consuming and error-prone</a:t>
            </a:r>
          </a:p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86943" y="5571793"/>
            <a:ext cx="648563" cy="6485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5375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12725"/>
              <a:ext cx="7112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04222" y="6795136"/>
            <a:ext cx="13353123" cy="183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sz="3500" spc="7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3500" spc="7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sers can ask questions in natural language and receive concise answers based on the official program materials.</a:t>
            </a:r>
          </a:p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904222" y="5465823"/>
            <a:ext cx="11885488" cy="69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1"/>
              </a:lnSpc>
              <a:spcBef>
                <a:spcPct val="0"/>
              </a:spcBef>
            </a:pPr>
            <a:r>
              <a:rPr lang="en-US" b="true" sz="3531" spc="7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build a Retrieval-Augmented Generation (RAG) system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5639" y="895350"/>
            <a:ext cx="1302393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56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SYSTEM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46555" y="-2267622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9354559">
            <a:off x="13723456" y="4825170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521968">
            <a:off x="-2126428" y="567152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5" y="0"/>
                </a:lnTo>
                <a:lnTo>
                  <a:pt x="6556115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3423838" y="-1628492"/>
            <a:ext cx="6071800" cy="5674373"/>
          </a:xfrm>
          <a:custGeom>
            <a:avLst/>
            <a:gdLst/>
            <a:ahLst/>
            <a:cxnLst/>
            <a:rect r="r" b="b" t="t" l="l"/>
            <a:pathLst>
              <a:path h="5674373" w="6071800">
                <a:moveTo>
                  <a:pt x="0" y="0"/>
                </a:moveTo>
                <a:lnTo>
                  <a:pt x="6071800" y="0"/>
                </a:lnTo>
                <a:lnTo>
                  <a:pt x="6071800" y="5674372"/>
                </a:lnTo>
                <a:lnTo>
                  <a:pt x="0" y="5674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69252" y="2642188"/>
            <a:ext cx="995919" cy="1091147"/>
          </a:xfrm>
          <a:custGeom>
            <a:avLst/>
            <a:gdLst/>
            <a:ahLst/>
            <a:cxnLst/>
            <a:rect r="r" b="b" t="t" l="l"/>
            <a:pathLst>
              <a:path h="1091147" w="995919">
                <a:moveTo>
                  <a:pt x="0" y="0"/>
                </a:moveTo>
                <a:lnTo>
                  <a:pt x="995919" y="0"/>
                </a:lnTo>
                <a:lnTo>
                  <a:pt x="995919" y="1091147"/>
                </a:lnTo>
                <a:lnTo>
                  <a:pt x="0" y="1091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727148" y="3885514"/>
            <a:ext cx="2480126" cy="557449"/>
            <a:chOff x="0" y="0"/>
            <a:chExt cx="812800" cy="182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6814" y="3885514"/>
            <a:ext cx="2480126" cy="557449"/>
            <a:chOff x="0" y="0"/>
            <a:chExt cx="812800" cy="182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548"/>
                </a:lnSpc>
                <a:spcBef>
                  <a:spcPct val="0"/>
                </a:spcBef>
              </a:pPr>
              <a:r>
                <a:rPr lang="en-US" sz="2534" strike="noStrike" u="none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17940" y="3885514"/>
            <a:ext cx="2480126" cy="557449"/>
            <a:chOff x="0" y="0"/>
            <a:chExt cx="812800" cy="182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548"/>
                </a:lnSpc>
                <a:spcBef>
                  <a:spcPct val="0"/>
                </a:spcBef>
              </a:pPr>
              <a:r>
                <a:rPr lang="en-US" sz="2534" strike="noStrike" u="none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97605" y="3885514"/>
            <a:ext cx="2480126" cy="557449"/>
            <a:chOff x="0" y="0"/>
            <a:chExt cx="812800" cy="182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548"/>
                </a:lnSpc>
                <a:spcBef>
                  <a:spcPct val="0"/>
                </a:spcBef>
              </a:pPr>
              <a:r>
                <a:rPr lang="en-US" sz="2534" strike="noStrike" u="none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280874" y="2642188"/>
            <a:ext cx="954257" cy="1091147"/>
          </a:xfrm>
          <a:custGeom>
            <a:avLst/>
            <a:gdLst/>
            <a:ahLst/>
            <a:cxnLst/>
            <a:rect r="r" b="b" t="t" l="l"/>
            <a:pathLst>
              <a:path h="1091147" w="954257">
                <a:moveTo>
                  <a:pt x="0" y="0"/>
                </a:moveTo>
                <a:lnTo>
                  <a:pt x="954257" y="0"/>
                </a:lnTo>
                <a:lnTo>
                  <a:pt x="954257" y="1091147"/>
                </a:lnTo>
                <a:lnTo>
                  <a:pt x="0" y="10911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11886479" y="3885514"/>
            <a:ext cx="2480126" cy="557449"/>
            <a:chOff x="0" y="0"/>
            <a:chExt cx="812800" cy="1826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548"/>
                </a:lnSpc>
                <a:spcBef>
                  <a:spcPct val="0"/>
                </a:spcBef>
              </a:pPr>
              <a:r>
                <a:rPr lang="en-US" sz="2534" strike="noStrike" u="none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622427" y="2725104"/>
            <a:ext cx="1008230" cy="1008230"/>
          </a:xfrm>
          <a:custGeom>
            <a:avLst/>
            <a:gdLst/>
            <a:ahLst/>
            <a:cxnLst/>
            <a:rect r="r" b="b" t="t" l="l"/>
            <a:pathLst>
              <a:path h="1008230" w="1008230">
                <a:moveTo>
                  <a:pt x="0" y="0"/>
                </a:moveTo>
                <a:lnTo>
                  <a:pt x="1008230" y="0"/>
                </a:lnTo>
                <a:lnTo>
                  <a:pt x="1008230" y="1008231"/>
                </a:lnTo>
                <a:lnTo>
                  <a:pt x="0" y="10082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811777" y="2681553"/>
            <a:ext cx="1051782" cy="1051782"/>
          </a:xfrm>
          <a:custGeom>
            <a:avLst/>
            <a:gdLst/>
            <a:ahLst/>
            <a:cxnLst/>
            <a:rect r="r" b="b" t="t" l="l"/>
            <a:pathLst>
              <a:path h="1051782" w="1051782">
                <a:moveTo>
                  <a:pt x="0" y="0"/>
                </a:moveTo>
                <a:lnTo>
                  <a:pt x="1051782" y="0"/>
                </a:lnTo>
                <a:lnTo>
                  <a:pt x="1051782" y="1051782"/>
                </a:lnTo>
                <a:lnTo>
                  <a:pt x="0" y="1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6997563" y="2681553"/>
            <a:ext cx="1051782" cy="1051782"/>
          </a:xfrm>
          <a:custGeom>
            <a:avLst/>
            <a:gdLst/>
            <a:ahLst/>
            <a:cxnLst/>
            <a:rect r="r" b="b" t="t" l="l"/>
            <a:pathLst>
              <a:path h="1051782" w="1051782">
                <a:moveTo>
                  <a:pt x="0" y="0"/>
                </a:moveTo>
                <a:lnTo>
                  <a:pt x="1051782" y="0"/>
                </a:lnTo>
                <a:lnTo>
                  <a:pt x="1051782" y="1051782"/>
                </a:lnTo>
                <a:lnTo>
                  <a:pt x="0" y="1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4779174" y="3885514"/>
            <a:ext cx="2480126" cy="557449"/>
            <a:chOff x="0" y="0"/>
            <a:chExt cx="812800" cy="182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E3D8D4"/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548"/>
                </a:lnSpc>
                <a:spcBef>
                  <a:spcPct val="0"/>
                </a:spcBef>
              </a:pPr>
              <a:r>
                <a:rPr lang="en-US" sz="2534" strike="noStrike" u="none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5493346" y="2725104"/>
            <a:ext cx="1051782" cy="1051782"/>
          </a:xfrm>
          <a:custGeom>
            <a:avLst/>
            <a:gdLst/>
            <a:ahLst/>
            <a:cxnLst/>
            <a:rect r="r" b="b" t="t" l="l"/>
            <a:pathLst>
              <a:path h="1051782" w="1051782">
                <a:moveTo>
                  <a:pt x="0" y="0"/>
                </a:moveTo>
                <a:lnTo>
                  <a:pt x="1051782" y="0"/>
                </a:lnTo>
                <a:lnTo>
                  <a:pt x="1051782" y="1051782"/>
                </a:lnTo>
                <a:lnTo>
                  <a:pt x="0" y="1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2125809" y="5791200"/>
            <a:ext cx="14122990" cy="2771637"/>
          </a:xfrm>
          <a:custGeom>
            <a:avLst/>
            <a:gdLst/>
            <a:ahLst/>
            <a:cxnLst/>
            <a:rect r="r" b="b" t="t" l="l"/>
            <a:pathLst>
              <a:path h="2771637" w="14122990">
                <a:moveTo>
                  <a:pt x="0" y="0"/>
                </a:moveTo>
                <a:lnTo>
                  <a:pt x="14122989" y="0"/>
                </a:lnTo>
                <a:lnTo>
                  <a:pt x="14122989" y="2771637"/>
                </a:lnTo>
                <a:lnTo>
                  <a:pt x="0" y="277163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65246" y="4581525"/>
            <a:ext cx="220393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PDF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Loading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57071" y="4746525"/>
            <a:ext cx="15205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Chunking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92048" y="4746525"/>
            <a:ext cx="22628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Embedding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87303" y="4746525"/>
            <a:ext cx="23904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ChromaDB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92131" y="4746525"/>
            <a:ext cx="12845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LLM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230932" y="4746525"/>
            <a:ext cx="15766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Gradio UI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7603444" y="88192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733420" y="-1000996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311225" y="649871"/>
            <a:ext cx="15719913" cy="12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EXPER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NT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&amp;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EVA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TIO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70156">
            <a:off x="-2201904" y="-2938493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464355"/>
            <a:ext cx="7510737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spc="7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3500" spc="7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6.1 RAG</a:t>
            </a: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vs. No RAG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059332" y="2591355"/>
            <a:ext cx="89718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Without retrieval the LLM hallucinates. RAG is essential.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5473" y="3613705"/>
            <a:ext cx="488000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6.2 Embedding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82729" y="3687797"/>
            <a:ext cx="93765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all-MiniLM-L6-v2 outperforms paraphrase-MiniLM-L3-v2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5473" y="4772580"/>
            <a:ext cx="368438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6.3 Top-k Chunks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9332" y="4855130"/>
            <a:ext cx="818584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 = 4 gives the best balance; beyond 4 adds noise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5473" y="5845730"/>
            <a:ext cx="400883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6.4 Response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82729" y="5891767"/>
            <a:ext cx="77389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Average end-to-end latency ~2.3 s per query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5473" y="6918880"/>
            <a:ext cx="438484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6.5 LLM Comparison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59332" y="6929992"/>
            <a:ext cx="97909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Qwen2.5-72B gives more complete answers than zephyr-7b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5473" y="7992030"/>
            <a:ext cx="4687565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6.6 Prompt Templates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59332" y="7968217"/>
            <a:ext cx="52604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Role-based &gt; Structured &gt; Basic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5473" y="9065180"/>
            <a:ext cx="280250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00"/>
              </a:lnSpc>
              <a:spcBef>
                <a:spcPct val="0"/>
              </a:spcBef>
            </a:pPr>
            <a:r>
              <a:rPr lang="en-US" b="true" sz="3500" spc="77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6.7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59332" y="9074705"/>
            <a:ext cx="671706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75% accuracy — 6 of 8 questions correct.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98399">
            <a:off x="14761141" y="5404748"/>
            <a:ext cx="5745295" cy="7707104"/>
          </a:xfrm>
          <a:custGeom>
            <a:avLst/>
            <a:gdLst/>
            <a:ahLst/>
            <a:cxnLst/>
            <a:rect r="r" b="b" t="t" l="l"/>
            <a:pathLst>
              <a:path h="7707104" w="5745295">
                <a:moveTo>
                  <a:pt x="0" y="0"/>
                </a:moveTo>
                <a:lnTo>
                  <a:pt x="5745295" y="0"/>
                </a:lnTo>
                <a:lnTo>
                  <a:pt x="5745295" y="7707104"/>
                </a:lnTo>
                <a:lnTo>
                  <a:pt x="0" y="7707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9961243">
            <a:off x="12530647" y="-4083997"/>
            <a:ext cx="10896387" cy="9430328"/>
          </a:xfrm>
          <a:custGeom>
            <a:avLst/>
            <a:gdLst/>
            <a:ahLst/>
            <a:cxnLst/>
            <a:rect r="r" b="b" t="t" l="l"/>
            <a:pathLst>
              <a:path h="9430328" w="10896387">
                <a:moveTo>
                  <a:pt x="0" y="0"/>
                </a:moveTo>
                <a:lnTo>
                  <a:pt x="10896387" y="0"/>
                </a:lnTo>
                <a:lnTo>
                  <a:pt x="10896387" y="9430328"/>
                </a:lnTo>
                <a:lnTo>
                  <a:pt x="0" y="9430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976001">
            <a:off x="-4614341" y="5979010"/>
            <a:ext cx="9228681" cy="7987004"/>
          </a:xfrm>
          <a:custGeom>
            <a:avLst/>
            <a:gdLst/>
            <a:ahLst/>
            <a:cxnLst/>
            <a:rect r="r" b="b" t="t" l="l"/>
            <a:pathLst>
              <a:path h="7987004" w="9228681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774200" y="1066800"/>
            <a:ext cx="6286781" cy="236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7"/>
              </a:lnSpc>
            </a:pPr>
            <a:r>
              <a:rPr lang="en-US" b="true" sz="5533" spc="23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RESULTS AT A GLANCE</a:t>
            </a:r>
          </a:p>
          <a:p>
            <a:pPr algn="l">
              <a:lnSpc>
                <a:spcPts val="619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69947" y="3349297"/>
            <a:ext cx="2815187" cy="2221461"/>
            <a:chOff x="0" y="0"/>
            <a:chExt cx="3753583" cy="296194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332259" y="0"/>
              <a:ext cx="3147932" cy="2961948"/>
              <a:chOff x="0" y="0"/>
              <a:chExt cx="953817" cy="8974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53817" cy="897464"/>
              </a:xfrm>
              <a:custGeom>
                <a:avLst/>
                <a:gdLst/>
                <a:ahLst/>
                <a:cxnLst/>
                <a:rect r="r" b="b" t="t" l="l"/>
                <a:pathLst>
                  <a:path h="897464" w="953817">
                    <a:moveTo>
                      <a:pt x="127887" y="0"/>
                    </a:moveTo>
                    <a:lnTo>
                      <a:pt x="825930" y="0"/>
                    </a:lnTo>
                    <a:cubicBezTo>
                      <a:pt x="896560" y="0"/>
                      <a:pt x="953817" y="57257"/>
                      <a:pt x="953817" y="127887"/>
                    </a:cubicBezTo>
                    <a:lnTo>
                      <a:pt x="953817" y="769577"/>
                    </a:lnTo>
                    <a:cubicBezTo>
                      <a:pt x="953817" y="803495"/>
                      <a:pt x="940343" y="836023"/>
                      <a:pt x="916360" y="860007"/>
                    </a:cubicBezTo>
                    <a:cubicBezTo>
                      <a:pt x="892376" y="883990"/>
                      <a:pt x="859848" y="897464"/>
                      <a:pt x="825930" y="897464"/>
                    </a:cubicBezTo>
                    <a:lnTo>
                      <a:pt x="127887" y="897464"/>
                    </a:lnTo>
                    <a:cubicBezTo>
                      <a:pt x="93969" y="897464"/>
                      <a:pt x="61441" y="883990"/>
                      <a:pt x="37457" y="860007"/>
                    </a:cubicBezTo>
                    <a:cubicBezTo>
                      <a:pt x="13474" y="836023"/>
                      <a:pt x="0" y="803495"/>
                      <a:pt x="0" y="769577"/>
                    </a:cubicBezTo>
                    <a:lnTo>
                      <a:pt x="0" y="127887"/>
                    </a:lnTo>
                    <a:cubicBezTo>
                      <a:pt x="0" y="57257"/>
                      <a:pt x="57257" y="0"/>
                      <a:pt x="127887" y="0"/>
                    </a:cubicBezTo>
                    <a:close/>
                  </a:path>
                </a:pathLst>
              </a:custGeom>
              <a:solidFill>
                <a:srgbClr val="25375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525"/>
                <a:ext cx="953817" cy="887939"/>
              </a:xfrm>
              <a:prstGeom prst="rect">
                <a:avLst/>
              </a:prstGeom>
            </p:spPr>
            <p:txBody>
              <a:bodyPr anchor="ctr" rtlCol="false" tIns="40747" lIns="40747" bIns="40747" rIns="40747"/>
              <a:lstStyle/>
              <a:p>
                <a:pPr algn="ctr">
                  <a:lnSpc>
                    <a:spcPts val="212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942690" y="1140582"/>
              <a:ext cx="1927071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b="true" sz="4499" spc="188">
                  <a:solidFill>
                    <a:srgbClr val="EDE8E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75%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66043"/>
              <a:ext cx="375358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65">
                  <a:solidFill>
                    <a:srgbClr val="EDE8E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Accuracy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41330" y="3349297"/>
            <a:ext cx="2360949" cy="2221461"/>
            <a:chOff x="0" y="0"/>
            <a:chExt cx="953817" cy="8974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3817" cy="897464"/>
            </a:xfrm>
            <a:custGeom>
              <a:avLst/>
              <a:gdLst/>
              <a:ahLst/>
              <a:cxnLst/>
              <a:rect r="r" b="b" t="t" l="l"/>
              <a:pathLst>
                <a:path h="897464" w="953817">
                  <a:moveTo>
                    <a:pt x="127887" y="0"/>
                  </a:moveTo>
                  <a:lnTo>
                    <a:pt x="825930" y="0"/>
                  </a:lnTo>
                  <a:cubicBezTo>
                    <a:pt x="896560" y="0"/>
                    <a:pt x="953817" y="57257"/>
                    <a:pt x="953817" y="127887"/>
                  </a:cubicBezTo>
                  <a:lnTo>
                    <a:pt x="953817" y="769577"/>
                  </a:lnTo>
                  <a:cubicBezTo>
                    <a:pt x="953817" y="803495"/>
                    <a:pt x="940343" y="836023"/>
                    <a:pt x="916360" y="860007"/>
                  </a:cubicBezTo>
                  <a:cubicBezTo>
                    <a:pt x="892376" y="883990"/>
                    <a:pt x="859848" y="897464"/>
                    <a:pt x="825930" y="897464"/>
                  </a:cubicBezTo>
                  <a:lnTo>
                    <a:pt x="127887" y="897464"/>
                  </a:lnTo>
                  <a:cubicBezTo>
                    <a:pt x="93969" y="897464"/>
                    <a:pt x="61441" y="883990"/>
                    <a:pt x="37457" y="860007"/>
                  </a:cubicBezTo>
                  <a:cubicBezTo>
                    <a:pt x="13474" y="836023"/>
                    <a:pt x="0" y="803495"/>
                    <a:pt x="0" y="769577"/>
                  </a:cubicBezTo>
                  <a:lnTo>
                    <a:pt x="0" y="127887"/>
                  </a:lnTo>
                  <a:cubicBezTo>
                    <a:pt x="0" y="57257"/>
                    <a:pt x="57257" y="0"/>
                    <a:pt x="127887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953817" cy="887939"/>
            </a:xfrm>
            <a:prstGeom prst="rect">
              <a:avLst/>
            </a:prstGeom>
          </p:spPr>
          <p:txBody>
            <a:bodyPr anchor="ctr" rtlCol="false" tIns="40747" lIns="40747" bIns="40747" rIns="40747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9142" y="6128657"/>
            <a:ext cx="2360949" cy="2221461"/>
            <a:chOff x="0" y="0"/>
            <a:chExt cx="953817" cy="8974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3817" cy="897464"/>
            </a:xfrm>
            <a:custGeom>
              <a:avLst/>
              <a:gdLst/>
              <a:ahLst/>
              <a:cxnLst/>
              <a:rect r="r" b="b" t="t" l="l"/>
              <a:pathLst>
                <a:path h="897464" w="953817">
                  <a:moveTo>
                    <a:pt x="127887" y="0"/>
                  </a:moveTo>
                  <a:lnTo>
                    <a:pt x="825930" y="0"/>
                  </a:lnTo>
                  <a:cubicBezTo>
                    <a:pt x="896560" y="0"/>
                    <a:pt x="953817" y="57257"/>
                    <a:pt x="953817" y="127887"/>
                  </a:cubicBezTo>
                  <a:lnTo>
                    <a:pt x="953817" y="769577"/>
                  </a:lnTo>
                  <a:cubicBezTo>
                    <a:pt x="953817" y="803495"/>
                    <a:pt x="940343" y="836023"/>
                    <a:pt x="916360" y="860007"/>
                  </a:cubicBezTo>
                  <a:cubicBezTo>
                    <a:pt x="892376" y="883990"/>
                    <a:pt x="859848" y="897464"/>
                    <a:pt x="825930" y="897464"/>
                  </a:cubicBezTo>
                  <a:lnTo>
                    <a:pt x="127887" y="897464"/>
                  </a:lnTo>
                  <a:cubicBezTo>
                    <a:pt x="93969" y="897464"/>
                    <a:pt x="61441" y="883990"/>
                    <a:pt x="37457" y="860007"/>
                  </a:cubicBezTo>
                  <a:cubicBezTo>
                    <a:pt x="13474" y="836023"/>
                    <a:pt x="0" y="803495"/>
                    <a:pt x="0" y="769577"/>
                  </a:cubicBezTo>
                  <a:lnTo>
                    <a:pt x="0" y="127887"/>
                  </a:lnTo>
                  <a:cubicBezTo>
                    <a:pt x="0" y="57257"/>
                    <a:pt x="57257" y="0"/>
                    <a:pt x="127887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953817" cy="887939"/>
            </a:xfrm>
            <a:prstGeom prst="rect">
              <a:avLst/>
            </a:prstGeom>
          </p:spPr>
          <p:txBody>
            <a:bodyPr anchor="ctr" rtlCol="false" tIns="40747" lIns="40747" bIns="40747" rIns="40747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41330" y="6128657"/>
            <a:ext cx="2360949" cy="2221461"/>
            <a:chOff x="0" y="0"/>
            <a:chExt cx="953817" cy="8974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3817" cy="897464"/>
            </a:xfrm>
            <a:custGeom>
              <a:avLst/>
              <a:gdLst/>
              <a:ahLst/>
              <a:cxnLst/>
              <a:rect r="r" b="b" t="t" l="l"/>
              <a:pathLst>
                <a:path h="897464" w="953817">
                  <a:moveTo>
                    <a:pt x="127887" y="0"/>
                  </a:moveTo>
                  <a:lnTo>
                    <a:pt x="825930" y="0"/>
                  </a:lnTo>
                  <a:cubicBezTo>
                    <a:pt x="896560" y="0"/>
                    <a:pt x="953817" y="57257"/>
                    <a:pt x="953817" y="127887"/>
                  </a:cubicBezTo>
                  <a:lnTo>
                    <a:pt x="953817" y="769577"/>
                  </a:lnTo>
                  <a:cubicBezTo>
                    <a:pt x="953817" y="803495"/>
                    <a:pt x="940343" y="836023"/>
                    <a:pt x="916360" y="860007"/>
                  </a:cubicBezTo>
                  <a:cubicBezTo>
                    <a:pt x="892376" y="883990"/>
                    <a:pt x="859848" y="897464"/>
                    <a:pt x="825930" y="897464"/>
                  </a:cubicBezTo>
                  <a:lnTo>
                    <a:pt x="127887" y="897464"/>
                  </a:lnTo>
                  <a:cubicBezTo>
                    <a:pt x="93969" y="897464"/>
                    <a:pt x="61441" y="883990"/>
                    <a:pt x="37457" y="860007"/>
                  </a:cubicBezTo>
                  <a:cubicBezTo>
                    <a:pt x="13474" y="836023"/>
                    <a:pt x="0" y="803495"/>
                    <a:pt x="0" y="769577"/>
                  </a:cubicBezTo>
                  <a:lnTo>
                    <a:pt x="0" y="127887"/>
                  </a:lnTo>
                  <a:cubicBezTo>
                    <a:pt x="0" y="57257"/>
                    <a:pt x="57257" y="0"/>
                    <a:pt x="127887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953817" cy="887939"/>
            </a:xfrm>
            <a:prstGeom prst="rect">
              <a:avLst/>
            </a:prstGeom>
          </p:spPr>
          <p:txBody>
            <a:bodyPr anchor="ctr" rtlCol="false" tIns="40747" lIns="40747" bIns="40747" rIns="40747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021920" y="2466483"/>
            <a:ext cx="7621507" cy="2677017"/>
          </a:xfrm>
          <a:custGeom>
            <a:avLst/>
            <a:gdLst/>
            <a:ahLst/>
            <a:cxnLst/>
            <a:rect r="r" b="b" t="t" l="l"/>
            <a:pathLst>
              <a:path h="2677017" w="7621507">
                <a:moveTo>
                  <a:pt x="0" y="0"/>
                </a:moveTo>
                <a:lnTo>
                  <a:pt x="7621507" y="0"/>
                </a:lnTo>
                <a:lnTo>
                  <a:pt x="7621507" y="2677017"/>
                </a:lnTo>
                <a:lnTo>
                  <a:pt x="0" y="26770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07868" y="7036646"/>
            <a:ext cx="4895702" cy="2500531"/>
          </a:xfrm>
          <a:custGeom>
            <a:avLst/>
            <a:gdLst/>
            <a:ahLst/>
            <a:cxnLst/>
            <a:rect r="r" b="b" t="t" l="l"/>
            <a:pathLst>
              <a:path h="2500531" w="4895702">
                <a:moveTo>
                  <a:pt x="0" y="0"/>
                </a:moveTo>
                <a:lnTo>
                  <a:pt x="4895702" y="0"/>
                </a:lnTo>
                <a:lnTo>
                  <a:pt x="4895702" y="2500531"/>
                </a:lnTo>
                <a:lnTo>
                  <a:pt x="0" y="25005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021920" y="1571527"/>
            <a:ext cx="8969720" cy="96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754" spc="6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mbedding comparison — retrieved hits (8 test queries)</a:t>
            </a:r>
          </a:p>
          <a:p>
            <a:pPr algn="l">
              <a:lnSpc>
                <a:spcPts val="385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199153" y="4183302"/>
            <a:ext cx="1445303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1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2.3s</a:t>
            </a:r>
          </a:p>
          <a:p>
            <a:pPr algn="ctr">
              <a:lnSpc>
                <a:spcPts val="629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492135" y="3626211"/>
            <a:ext cx="281518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Avg. response</a:t>
            </a:r>
          </a:p>
          <a:p>
            <a:pPr algn="ctr">
              <a:lnSpc>
                <a:spcPts val="21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76965" y="7153663"/>
            <a:ext cx="1445303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1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 = 4</a:t>
            </a:r>
          </a:p>
          <a:p>
            <a:pPr algn="ctr">
              <a:lnSpc>
                <a:spcPts val="629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26388" y="6253431"/>
            <a:ext cx="2453703" cy="125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2614" spc="57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Best chunk count</a:t>
            </a:r>
          </a:p>
          <a:p>
            <a:pPr algn="ctr">
              <a:lnSpc>
                <a:spcPts val="228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199153" y="7153663"/>
            <a:ext cx="1445303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 spc="1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 / 8</a:t>
            </a:r>
          </a:p>
          <a:p>
            <a:pPr algn="ctr">
              <a:lnSpc>
                <a:spcPts val="62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492135" y="6262956"/>
            <a:ext cx="28151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Correct </a:t>
            </a:r>
          </a:p>
          <a:p>
            <a:pPr algn="ctr">
              <a:lnSpc>
                <a:spcPts val="3499"/>
              </a:lnSpc>
            </a:pPr>
            <a:r>
              <a:rPr lang="en-US" sz="2499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answers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8021920" y="6071507"/>
            <a:ext cx="8969720" cy="96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Answ</a:t>
            </a:r>
            <a:r>
              <a:rPr lang="en-US" sz="2754" spc="6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 quality by top-k  (1–5 scale, estimated)</a:t>
            </a:r>
          </a:p>
          <a:p>
            <a:pPr algn="l">
              <a:lnSpc>
                <a:spcPts val="385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6947" y="4364203"/>
            <a:ext cx="5141050" cy="4238108"/>
            <a:chOff x="0" y="0"/>
            <a:chExt cx="812800" cy="670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75103" y="4364203"/>
            <a:ext cx="5141050" cy="4238108"/>
            <a:chOff x="0" y="0"/>
            <a:chExt cx="812800" cy="6700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40003" y="4364203"/>
            <a:ext cx="5141050" cy="4238108"/>
            <a:chOff x="0" y="0"/>
            <a:chExt cx="812800" cy="6700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22189" y="592001"/>
            <a:ext cx="13570986" cy="194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1"/>
              </a:lnSpc>
            </a:pPr>
            <a:r>
              <a:rPr lang="en-US" b="true" sz="5622" spc="52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PROMPT TEMPLATE </a:t>
            </a:r>
          </a:p>
          <a:p>
            <a:pPr algn="ctr">
              <a:lnSpc>
                <a:spcPts val="7871"/>
              </a:lnSpc>
            </a:pPr>
            <a:r>
              <a:rPr lang="en-US" b="true" sz="5622" spc="52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EXPERIMENTS (6.6)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5431" y="3165112"/>
            <a:ext cx="3519047" cy="227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8"/>
              </a:lnSpc>
            </a:pPr>
            <a:r>
              <a:rPr lang="en-US" b="true" sz="6548" spc="615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BASIC</a:t>
            </a:r>
          </a:p>
          <a:p>
            <a:pPr algn="ctr">
              <a:lnSpc>
                <a:spcPts val="916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11213" y="4588647"/>
            <a:ext cx="4563411" cy="135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 but unreliable — LLM</a:t>
            </a:r>
          </a:p>
          <a:p>
            <a:pPr algn="ctr">
              <a:lnSpc>
                <a:spcPts val="3648"/>
              </a:lnSpc>
            </a:pP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sometimes ignores context.</a:t>
            </a:r>
          </a:p>
          <a:p>
            <a:pPr algn="ctr">
              <a:lnSpc>
                <a:spcPts val="364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11236" y="4588647"/>
            <a:ext cx="5004917" cy="135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XM</a:t>
            </a: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 tags help the model</a:t>
            </a:r>
          </a:p>
          <a:p>
            <a:pPr algn="ctr">
              <a:lnSpc>
                <a:spcPts val="3648"/>
              </a:lnSpc>
            </a:pP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distinguish context from query.</a:t>
            </a:r>
          </a:p>
          <a:p>
            <a:pPr algn="ctr">
              <a:lnSpc>
                <a:spcPts val="364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382903" y="4588647"/>
            <a:ext cx="4563411" cy="135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 results — role framing</a:t>
            </a:r>
          </a:p>
          <a:p>
            <a:pPr algn="ctr">
              <a:lnSpc>
                <a:spcPts val="3648"/>
              </a:lnSpc>
            </a:pP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produces precise answers.</a:t>
            </a:r>
          </a:p>
          <a:p>
            <a:pPr algn="ctr">
              <a:lnSpc>
                <a:spcPts val="3648"/>
              </a:lnSpc>
            </a:pPr>
          </a:p>
        </p:txBody>
      </p:sp>
      <p:sp>
        <p:nvSpPr>
          <p:cNvPr name="AutoShape 16" id="16"/>
          <p:cNvSpPr/>
          <p:nvPr/>
        </p:nvSpPr>
        <p:spPr>
          <a:xfrm flipV="true">
            <a:off x="1311213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67793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2442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6321534" y="-28554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7304767" y="85476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0" y="925830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-937766" y="8402769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672866">
            <a:off x="-1390516" y="-2034794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-10799999">
            <a:off x="12715117" y="758304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480320" y="5947276"/>
            <a:ext cx="4563411" cy="2405041"/>
          </a:xfrm>
          <a:custGeom>
            <a:avLst/>
            <a:gdLst/>
            <a:ahLst/>
            <a:cxnLst/>
            <a:rect r="r" b="b" t="t" l="l"/>
            <a:pathLst>
              <a:path h="2405041" w="4563411">
                <a:moveTo>
                  <a:pt x="0" y="0"/>
                </a:moveTo>
                <a:lnTo>
                  <a:pt x="4563411" y="0"/>
                </a:lnTo>
                <a:lnTo>
                  <a:pt x="4563411" y="2405041"/>
                </a:lnTo>
                <a:lnTo>
                  <a:pt x="0" y="2405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953568" y="5926152"/>
            <a:ext cx="4384119" cy="2447289"/>
          </a:xfrm>
          <a:custGeom>
            <a:avLst/>
            <a:gdLst/>
            <a:ahLst/>
            <a:cxnLst/>
            <a:rect r="r" b="b" t="t" l="l"/>
            <a:pathLst>
              <a:path h="2447289" w="4384119">
                <a:moveTo>
                  <a:pt x="0" y="0"/>
                </a:moveTo>
                <a:lnTo>
                  <a:pt x="4384119" y="0"/>
                </a:lnTo>
                <a:lnTo>
                  <a:pt x="4384119" y="2447289"/>
                </a:lnTo>
                <a:lnTo>
                  <a:pt x="0" y="24472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360" r="0" b="-436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249553" y="5947276"/>
            <a:ext cx="4525892" cy="2328857"/>
          </a:xfrm>
          <a:custGeom>
            <a:avLst/>
            <a:gdLst/>
            <a:ahLst/>
            <a:cxnLst/>
            <a:rect r="r" b="b" t="t" l="l"/>
            <a:pathLst>
              <a:path h="2328857" w="4525892">
                <a:moveTo>
                  <a:pt x="0" y="0"/>
                </a:moveTo>
                <a:lnTo>
                  <a:pt x="4525892" y="0"/>
                </a:lnTo>
                <a:lnTo>
                  <a:pt x="4525892" y="2328857"/>
                </a:lnTo>
                <a:lnTo>
                  <a:pt x="0" y="23288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238443" y="3273709"/>
            <a:ext cx="4048854" cy="194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9"/>
              </a:lnSpc>
            </a:pPr>
            <a:r>
              <a:rPr lang="en-US" b="true" sz="3999" spc="375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STRUCTURED (XML)</a:t>
            </a:r>
          </a:p>
          <a:p>
            <a:pPr algn="ctr">
              <a:lnSpc>
                <a:spcPts val="674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235201" y="3507881"/>
            <a:ext cx="4711113" cy="149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4500" spc="422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ROLE-BASED</a:t>
            </a:r>
          </a:p>
          <a:p>
            <a:pPr algn="ctr">
              <a:lnSpc>
                <a:spcPts val="681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698931" y="8830911"/>
            <a:ext cx="17879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Baseline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19708" y="8830911"/>
            <a:ext cx="17879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Better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18512" y="8830911"/>
            <a:ext cx="17879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6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Best !!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30985" y="2660959"/>
            <a:ext cx="11002073" cy="6931306"/>
          </a:xfrm>
          <a:custGeom>
            <a:avLst/>
            <a:gdLst/>
            <a:ahLst/>
            <a:cxnLst/>
            <a:rect r="r" b="b" t="t" l="l"/>
            <a:pathLst>
              <a:path h="6931306" w="11002073">
                <a:moveTo>
                  <a:pt x="0" y="0"/>
                </a:moveTo>
                <a:lnTo>
                  <a:pt x="11002074" y="0"/>
                </a:lnTo>
                <a:lnTo>
                  <a:pt x="11002074" y="6931306"/>
                </a:lnTo>
                <a:lnTo>
                  <a:pt x="0" y="693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6684" y="885825"/>
            <a:ext cx="10642595" cy="12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GRAD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 I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RF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231039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311225" y="1111020"/>
            <a:ext cx="8324690" cy="12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USI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</a:t>
            </a: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311225" y="2858691"/>
            <a:ext cx="152812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RAG</a:t>
            </a:r>
            <a:r>
              <a:rPr lang="en-US" b="true" sz="3000" spc="65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pipeline successfully retrieves relevant information from 8 exchange PDFs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1225" y="3868341"/>
            <a:ext cx="155902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ChromaDB</a:t>
            </a:r>
            <a:r>
              <a:rPr lang="en-US" b="true" sz="3000" spc="65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PersistentClient enables fast, persistent semantic search on disk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1225" y="4877991"/>
            <a:ext cx="152812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Role-based</a:t>
            </a:r>
            <a:r>
              <a:rPr lang="en-US" b="true" sz="3000" spc="65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prompt template consistently produces the most accurate answers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225" y="5892877"/>
            <a:ext cx="1453068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75%</a:t>
            </a:r>
            <a:r>
              <a:rPr lang="en-US" b="true" sz="3000" spc="65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accuracy — 6 of 8 manually labelled questions answered correctly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1225" y="6907762"/>
            <a:ext cx="155902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Grad</a:t>
            </a:r>
            <a:r>
              <a:rPr lang="en-US" b="true" sz="3000" spc="65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io interface makes the system accessible without technical knowledge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1032" y="8155537"/>
            <a:ext cx="1453068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Future</a:t>
            </a:r>
            <a:r>
              <a:rPr lang="en-US" sz="3000" spc="65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work: fine-tuned embeddings, larger evaluation set, multilingual support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2603" y="2898300"/>
            <a:ext cx="8213840" cy="153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8"/>
              </a:lnSpc>
            </a:pPr>
            <a:r>
              <a:rPr lang="en-US" b="true" sz="8991" spc="845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478627" y="2466073"/>
            <a:ext cx="0" cy="613520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8502801" y="331078"/>
            <a:ext cx="10116277" cy="9454121"/>
          </a:xfrm>
          <a:custGeom>
            <a:avLst/>
            <a:gdLst/>
            <a:ahLst/>
            <a:cxnLst/>
            <a:rect r="r" b="b" t="t" l="l"/>
            <a:pathLst>
              <a:path h="9454121" w="10116277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DAHHg9Ndblk</dc:identifier>
  <dcterms:modified xsi:type="dcterms:W3CDTF">2011-08-01T06:04:30Z</dcterms:modified>
  <cp:revision>1</cp:revision>
  <dc:title>Business</dc:title>
</cp:coreProperties>
</file>